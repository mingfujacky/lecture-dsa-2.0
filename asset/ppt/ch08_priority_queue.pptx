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30"/>
    <p:restoredTop sz="94585"/>
  </p:normalViewPr>
  <p:slideViewPr>
    <p:cSldViewPr snapToGrid="0">
      <p:cViewPr varScale="1">
        <p:scale>
          <a:sx n="71" d="100"/>
          <a:sy n="71" d="100"/>
        </p:scale>
        <p:origin x="20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1A7212-0C9B-AF5A-2BA4-63F18AE92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F005095-1FAF-19F3-5EE5-8FBCDE60E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EBE525-4DB5-321A-2708-59A4E47D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2026/4/7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14C310-5844-1D29-B155-5E1BF3FB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60186C-CF4E-4E6D-8F5C-6D22EF2F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06514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66CE5C-F8FB-9EE8-9DDF-42745BBB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EC448E-B186-361D-345C-A01306D03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9FD239-F6A5-0B00-D2FA-58E97E44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2026/4/7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A06C76-E458-2CDE-668E-54070CD77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91DD2-0B86-C078-53F3-F935572E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377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2B9D28-1AED-9F8E-5DCD-5A015024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C72216-1D95-B1E2-72BD-F8B87F359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F94AF0-85FC-150A-1506-016CFAAA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2026/4/7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F7C340-2D53-25BD-364C-E51F4E465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EDFA85-20C6-6549-6AA0-F9B0FDAC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2157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5014D3-72A1-9158-5D25-8BF35209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224B9A-650D-723F-A397-6FC34DE47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B16091-5E57-B58E-1C12-23DA9A36F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A48F7B-D56B-64F6-B368-F719FB1D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2026/4/7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F2DF657-324A-80EB-02A8-25C3B05A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CA959A-2D2B-09BF-B4A4-9B7763A3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2394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58104D-DEC0-123C-1F0D-37BCEC14E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79AFF9-1A2F-3E58-EC56-CE07B4AE3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DEA3DF-7971-9577-A40A-0A192613A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273909-9B82-3D77-46D1-C38DC27F0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FABDA37-57ED-E491-8DDF-1775C622F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80D1618-0593-DC03-7BC0-82842F35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2026/4/7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EA0F705-B8A2-D27D-511B-D64DC4A2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EFE139B-B727-FDC2-6F00-315D4138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8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89682A-DCAC-0009-941F-6FD9CA48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18D3B14-0E17-87E5-91CF-EEEFF6F2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2026/4/7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4BA88EF-5C38-1A69-B08F-36687D90C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669B224-3CA9-0E4F-B7DB-05C960D2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0007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8DFB7D6-C6C7-91BA-010A-E32E0607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2026/4/7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8C9DB75-C7D1-ABEE-5FF3-F6AEFF73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6317E6-8EE5-0DE4-1F82-6471A456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0061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CCF2AB-65A0-9114-1AEC-E99D3867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EA08F1-5849-A896-8874-5354C74A9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7860E16-82C9-41C5-7427-56DA74A63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D46696-950C-2440-C3C0-E1B1F17F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2026/4/7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3B0519-677C-CD5A-D293-BC95CEA7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22B17C2-1509-5F54-923A-E543E052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3891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7879A4-7EFC-6A28-2BB2-2FE3D025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CE1CACE-A1AE-2D61-6980-29080201A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CD47212-559D-0B3B-52F7-EE4D3B08F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15EEC2-49A1-103F-72B2-97585BD3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2026/4/7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7FB54F-CDF7-C19A-1A80-297EF765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12255C-2E92-9A08-1624-5D951812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92262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7C0E03-24FD-D09C-FCD8-E3835D485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0980700-4D66-030F-CAC5-2B083B4A0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91974C-C000-1B7A-19A1-BA1E4495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2026/4/7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8AD8E8-128C-EB4E-F056-F071EB24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5819BA-BF1D-4F5A-94E7-E47A3974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01223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DF243E8-798C-4685-6A58-ACE81EBEF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7D5CBD-0C9E-BA03-26B8-A0DF24800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73DB18-3341-9C07-14FC-DCC58DC4C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2026/4/7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D7C8E3-9E59-0A7F-7297-96FB1FDC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F6B0AE-172E-A02F-77E5-AB687866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550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5853CDA-6293-5203-5479-B75A3FE0C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DB5669-FF45-C2D4-45F2-8C90B51A6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38EE9C-0C50-2921-93FA-7A10980E6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851C12-1240-5B46-BD94-A3C3FBB79758}" type="datetimeFigureOut">
              <a:rPr kumimoji="1" lang="zh-TW" altLang="en-US" smtClean="0"/>
              <a:t>2026/4/7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DEC385-3E66-B0C4-DFDB-111FC4AB5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C24EBF-0F63-F318-740E-08C9A9D15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454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C336B680-739A-A15B-A8DD-87C34E0EF15B}"/>
              </a:ext>
            </a:extLst>
          </p:cNvPr>
          <p:cNvGrpSpPr/>
          <p:nvPr/>
        </p:nvGrpSpPr>
        <p:grpSpPr>
          <a:xfrm>
            <a:off x="849451" y="684473"/>
            <a:ext cx="7778725" cy="4801927"/>
            <a:chOff x="849451" y="684473"/>
            <a:chExt cx="7778725" cy="480192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843311B-F758-437D-7E41-2DB1ADE15C31}"/>
                </a:ext>
              </a:extLst>
            </p:cNvPr>
            <p:cNvSpPr/>
            <p:nvPr/>
          </p:nvSpPr>
          <p:spPr>
            <a:xfrm>
              <a:off x="2336887" y="684473"/>
              <a:ext cx="3752197" cy="147411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Priority Queue </a:t>
              </a:r>
            </a:p>
            <a:p>
              <a:r>
                <a:rPr kumimoji="1" lang="en-US" altLang="zh-TW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Attribute</a:t>
              </a:r>
            </a:p>
            <a:p>
              <a:pPr marL="285750" indent="-285750">
                <a:buFontTx/>
                <a:buChar char="-"/>
              </a:pPr>
              <a:r>
                <a:rPr kumimoji="1" lang="en-US" altLang="zh-TW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data</a:t>
              </a:r>
            </a:p>
            <a:p>
              <a:pPr marL="285750" indent="-285750">
                <a:buFontTx/>
                <a:buChar char="-"/>
              </a:pPr>
              <a:r>
                <a:rPr kumimoji="1" lang="en-US" altLang="zh-TW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priority function</a:t>
              </a:r>
            </a:p>
          </p:txBody>
        </p:sp>
        <p:sp>
          <p:nvSpPr>
            <p:cNvPr id="19" name="向右箭號 18">
              <a:extLst>
                <a:ext uri="{FF2B5EF4-FFF2-40B4-BE49-F238E27FC236}">
                  <a16:creationId xmlns:a16="http://schemas.microsoft.com/office/drawing/2014/main" id="{98852B0A-32FF-3D64-2D36-1DC77C61D76C}"/>
                </a:ext>
              </a:extLst>
            </p:cNvPr>
            <p:cNvSpPr/>
            <p:nvPr/>
          </p:nvSpPr>
          <p:spPr>
            <a:xfrm>
              <a:off x="6217412" y="1696129"/>
              <a:ext cx="1440000" cy="2520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F5E08F4C-B6D2-F367-EB68-3A04DFC13614}"/>
                </a:ext>
              </a:extLst>
            </p:cNvPr>
            <p:cNvSpPr/>
            <p:nvPr/>
          </p:nvSpPr>
          <p:spPr>
            <a:xfrm>
              <a:off x="2336888" y="2256022"/>
              <a:ext cx="3759112" cy="323037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4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Helper Function</a:t>
              </a:r>
            </a:p>
            <a:p>
              <a:pPr marL="171450" indent="-171450">
                <a:buFontTx/>
                <a:buChar char="-"/>
              </a:pP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__</a:t>
              </a:r>
              <a:r>
                <a:rPr kumimoji="1" lang="en-US" altLang="zh-TW" sz="14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init</a:t>
              </a: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__()</a:t>
              </a:r>
            </a:p>
            <a:p>
              <a:pPr marL="171450" indent="-171450">
                <a:buFontTx/>
                <a:buChar char="-"/>
              </a:pP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</a:t>
              </a:r>
              <a:r>
                <a:rPr kumimoji="1" lang="en-US" altLang="zh-TW" sz="14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has_lower_priority</a:t>
              </a: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pPr marL="171450" indent="-171450">
                <a:buFontTx/>
                <a:buChar char="-"/>
              </a:pP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</a:t>
              </a:r>
              <a:r>
                <a:rPr kumimoji="1" lang="en-US" altLang="zh-TW" sz="14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has_higher_priority</a:t>
              </a: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pPr marL="171450" indent="-171450">
                <a:buFontTx/>
                <a:buChar char="-"/>
              </a:pP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</a:t>
              </a:r>
              <a:r>
                <a:rPr kumimoji="1" lang="en-US" altLang="zh-TW" sz="14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left_child_index</a:t>
              </a: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pPr marL="171450" indent="-171450">
                <a:buFontTx/>
                <a:buChar char="-"/>
              </a:pP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</a:t>
              </a:r>
              <a:r>
                <a:rPr kumimoji="1" lang="en-US" altLang="zh-TW" sz="14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parent_index</a:t>
              </a:r>
              <a:endPara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Tx/>
                <a:buChar char="-"/>
              </a:pP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</a:t>
              </a:r>
              <a:r>
                <a:rPr kumimoji="1" lang="en-US" altLang="zh-TW" sz="14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highest_priority_child_index</a:t>
              </a:r>
              <a:endPara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Tx/>
                <a:buChar char="-"/>
              </a:pP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</a:t>
              </a:r>
              <a:r>
                <a:rPr kumimoji="1" lang="en-US" altLang="zh-TW" sz="14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first_leaf_index</a:t>
              </a: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pPr marL="171450" indent="-171450">
                <a:buFontTx/>
                <a:buChar char="-"/>
              </a:pP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</a:t>
              </a:r>
              <a:r>
                <a:rPr kumimoji="1" lang="en-US" altLang="zh-TW" sz="14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push_down</a:t>
              </a: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pPr marL="171450" indent="-171450">
                <a:buFontTx/>
                <a:buChar char="-"/>
              </a:pP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</a:t>
              </a:r>
              <a:r>
                <a:rPr kumimoji="1" lang="en-US" altLang="zh-TW" sz="14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bubble_up</a:t>
              </a: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pPr marL="171450" indent="-171450">
                <a:buFontTx/>
                <a:buChar char="-"/>
              </a:pP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</a:t>
              </a:r>
              <a:r>
                <a:rPr kumimoji="1" lang="en-US" altLang="zh-TW" sz="14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heapify</a:t>
              </a:r>
              <a:endPara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Tx/>
                <a:buChar char="-"/>
              </a:pP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__str__()</a:t>
              </a:r>
            </a:p>
            <a:p>
              <a:pPr marL="171450" indent="-171450">
                <a:buFontTx/>
                <a:buChar char="-"/>
              </a:pP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__</a:t>
              </a:r>
              <a:r>
                <a:rPr kumimoji="1" lang="en-US" altLang="zh-TW" sz="14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repr</a:t>
              </a: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__()</a:t>
              </a:r>
            </a:p>
            <a:p>
              <a:pPr marL="171450" indent="-171450">
                <a:buFontTx/>
                <a:buChar char="-"/>
              </a:pP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__</a:t>
              </a:r>
              <a:r>
                <a:rPr kumimoji="1" lang="en-US" altLang="zh-TW" sz="14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len</a:t>
              </a:r>
              <a:r>
                <a:rPr kumimoji="1" lang="en-US" altLang="zh-TW" sz="14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()__</a:t>
              </a: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98B8DAD6-A29F-99D2-4C68-4D5FD198DA87}"/>
                </a:ext>
              </a:extLst>
            </p:cNvPr>
            <p:cNvSpPr txBox="1"/>
            <p:nvPr/>
          </p:nvSpPr>
          <p:spPr>
            <a:xfrm>
              <a:off x="6169975" y="1214529"/>
              <a:ext cx="245820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TW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is_empty</a:t>
              </a:r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peek()</a:t>
              </a:r>
            </a:p>
          </p:txBody>
        </p:sp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5081C212-4B76-3F20-3B7A-7615CC9575DE}"/>
                </a:ext>
              </a:extLst>
            </p:cNvPr>
            <p:cNvGrpSpPr/>
            <p:nvPr/>
          </p:nvGrpSpPr>
          <p:grpSpPr>
            <a:xfrm>
              <a:off x="849451" y="1172909"/>
              <a:ext cx="1440000" cy="775220"/>
              <a:chOff x="8290058" y="2105368"/>
              <a:chExt cx="1440000" cy="775220"/>
            </a:xfrm>
          </p:grpSpPr>
          <p:sp>
            <p:nvSpPr>
              <p:cNvPr id="23" name="向右箭號 22">
                <a:extLst>
                  <a:ext uri="{FF2B5EF4-FFF2-40B4-BE49-F238E27FC236}">
                    <a16:creationId xmlns:a16="http://schemas.microsoft.com/office/drawing/2014/main" id="{5F866B30-F7CD-06C2-C06D-CE8DF48C12D5}"/>
                  </a:ext>
                </a:extLst>
              </p:cNvPr>
              <p:cNvSpPr/>
              <p:nvPr/>
            </p:nvSpPr>
            <p:spPr>
              <a:xfrm>
                <a:off x="8290058" y="2628588"/>
                <a:ext cx="1440000" cy="25200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4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93E15F7-2AEC-001A-0AEB-7B04D1566461}"/>
                  </a:ext>
                </a:extLst>
              </p:cNvPr>
              <p:cNvSpPr txBox="1"/>
              <p:nvPr/>
            </p:nvSpPr>
            <p:spPr>
              <a:xfrm>
                <a:off x="8290058" y="2105368"/>
                <a:ext cx="135911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TW" sz="1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top()</a:t>
                </a:r>
              </a:p>
              <a:p>
                <a:r>
                  <a:rPr kumimoji="1" lang="en-US" altLang="zh-TW" sz="1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insert()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88726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82</Words>
  <Application>Microsoft Macintosh PowerPoint</Application>
  <PresentationFormat>寬螢幕</PresentationFormat>
  <Paragraphs>22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Lin</dc:creator>
  <cp:lastModifiedBy>Jacky Lin</cp:lastModifiedBy>
  <cp:revision>11</cp:revision>
  <dcterms:created xsi:type="dcterms:W3CDTF">2026-01-03T12:20:26Z</dcterms:created>
  <dcterms:modified xsi:type="dcterms:W3CDTF">2026-04-07T02:36:46Z</dcterms:modified>
</cp:coreProperties>
</file>