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581"/>
    <p:restoredTop sz="94617"/>
  </p:normalViewPr>
  <p:slideViewPr>
    <p:cSldViewPr snapToGrid="0">
      <p:cViewPr>
        <p:scale>
          <a:sx n="100" d="100"/>
          <a:sy n="100" d="100"/>
        </p:scale>
        <p:origin x="-16" y="-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2026/2/5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表, 行, 圓形 的圖片&#10;&#10;自動產生的描述">
            <a:extLst>
              <a:ext uri="{FF2B5EF4-FFF2-40B4-BE49-F238E27FC236}">
                <a16:creationId xmlns:a16="http://schemas.microsoft.com/office/drawing/2014/main" id="{18723B22-614A-4EBA-662A-08C7140F9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0" y="768389"/>
            <a:ext cx="4737100" cy="3213100"/>
          </a:xfrm>
          <a:prstGeom prst="rect">
            <a:avLst/>
          </a:prstGeom>
        </p:spPr>
      </p:pic>
      <p:pic>
        <p:nvPicPr>
          <p:cNvPr id="5" name="圖片 4" descr="一張含有 圖表, 行, 圓形, 文字 的圖片&#10;&#10;自動產生的描述">
            <a:extLst>
              <a:ext uri="{FF2B5EF4-FFF2-40B4-BE49-F238E27FC236}">
                <a16:creationId xmlns:a16="http://schemas.microsoft.com/office/drawing/2014/main" id="{E7F26F36-2A88-85BF-917D-89CF6AB56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602" y="768389"/>
            <a:ext cx="48895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825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表, 文字, 螢幕擷取畫面, 行 的圖片&#10;&#10;自動產生的描述">
            <a:extLst>
              <a:ext uri="{FF2B5EF4-FFF2-40B4-BE49-F238E27FC236}">
                <a16:creationId xmlns:a16="http://schemas.microsoft.com/office/drawing/2014/main" id="{9E9DA15F-98A8-70E8-B6BA-49964923C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435" y="1001533"/>
            <a:ext cx="5257800" cy="2703706"/>
          </a:xfrm>
          <a:prstGeom prst="rect">
            <a:avLst/>
          </a:prstGeom>
        </p:spPr>
      </p:pic>
      <p:pic>
        <p:nvPicPr>
          <p:cNvPr id="5" name="圖片 4" descr="一張含有 文字, 圖表, 螢幕擷取畫面, 行 的圖片&#10;&#10;自動產生的描述">
            <a:extLst>
              <a:ext uri="{FF2B5EF4-FFF2-40B4-BE49-F238E27FC236}">
                <a16:creationId xmlns:a16="http://schemas.microsoft.com/office/drawing/2014/main" id="{D589A4DB-C93A-3BF7-3F97-F22AB8052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05" y="1001533"/>
            <a:ext cx="4931560" cy="2703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996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843311B-F758-437D-7E41-2DB1ADE15C31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Vertex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adjacency_list</a:t>
            </a:r>
            <a:endParaRPr kumimoji="1" lang="en-US" altLang="zh-TW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98852B0A-32FF-3D64-2D36-1DC77C61D76C}"/>
              </a:ext>
            </a:extLst>
          </p:cNvPr>
          <p:cNvSpPr/>
          <p:nvPr/>
        </p:nvSpPr>
        <p:spPr>
          <a:xfrm>
            <a:off x="5433880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08F4C-B6D2-F367-EB68-3A04DFC13614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__eq__()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081C212-4B76-3F20-3B7A-7615CC9575DE}"/>
              </a:ext>
            </a:extLst>
          </p:cNvPr>
          <p:cNvGrpSpPr/>
          <p:nvPr/>
        </p:nvGrpSpPr>
        <p:grpSpPr>
          <a:xfrm>
            <a:off x="309282" y="893331"/>
            <a:ext cx="2027606" cy="738664"/>
            <a:chOff x="7702452" y="2114897"/>
            <a:chExt cx="2027606" cy="738664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5F866B30-F7CD-06C2-C06D-CE8DF48C12D5}"/>
                </a:ext>
              </a:extLst>
            </p:cNvPr>
            <p:cNvSpPr/>
            <p:nvPr/>
          </p:nvSpPr>
          <p:spPr>
            <a:xfrm>
              <a:off x="8006211" y="2628588"/>
              <a:ext cx="1723847" cy="18931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93E15F7-2AEC-001A-0AEB-7B04D1566461}"/>
                </a:ext>
              </a:extLst>
            </p:cNvPr>
            <p:cNvSpPr txBox="1"/>
            <p:nvPr/>
          </p:nvSpPr>
          <p:spPr>
            <a:xfrm>
              <a:off x="7702452" y="2114897"/>
              <a:ext cx="2027606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add_edge_to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delete_edge_from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endPara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1E925A2F-5D14-D9B5-28FD-D7A601DE4D92}"/>
              </a:ext>
            </a:extLst>
          </p:cNvPr>
          <p:cNvSpPr txBox="1"/>
          <p:nvPr/>
        </p:nvSpPr>
        <p:spPr>
          <a:xfrm>
            <a:off x="5412459" y="818101"/>
            <a:ext cx="20641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has_edge_to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outgoing_edges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35843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8E30-4B91-71ED-E7E9-2DE309B4E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FD99466-33FA-9D81-BAEB-5BCA87C9764A}"/>
              </a:ext>
            </a:extLst>
          </p:cNvPr>
          <p:cNvSpPr/>
          <p:nvPr/>
        </p:nvSpPr>
        <p:spPr>
          <a:xfrm>
            <a:off x="2336888" y="1372171"/>
            <a:ext cx="3062124" cy="181478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Graph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vertex_number</a:t>
            </a:r>
            <a:endParaRPr kumimoji="1" lang="en-US" altLang="zh-TW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kumimoji="1" lang="en-US" altLang="zh-TW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edge_number</a:t>
            </a:r>
            <a:endParaRPr kumimoji="1" lang="en-US" altLang="zh-TW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adj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5F660D25-296A-1750-C84A-E59C5F0705D6}"/>
              </a:ext>
            </a:extLst>
          </p:cNvPr>
          <p:cNvSpPr/>
          <p:nvPr/>
        </p:nvSpPr>
        <p:spPr>
          <a:xfrm>
            <a:off x="5433880" y="297260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E28472-AEAD-F69B-992E-FB42DD2A085B}"/>
              </a:ext>
            </a:extLst>
          </p:cNvPr>
          <p:cNvSpPr/>
          <p:nvPr/>
        </p:nvSpPr>
        <p:spPr>
          <a:xfrm>
            <a:off x="2336888" y="3224609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get_vertex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171450" indent="-171450">
              <a:buFontTx/>
              <a:buChar char="-"/>
            </a:pPr>
            <a:endParaRPr kumimoji="1" lang="en-US" altLang="zh-TW" sz="14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78A8E5C6-6236-9D02-D38F-0E27CDD9ECCB}"/>
              </a:ext>
            </a:extLst>
          </p:cNvPr>
          <p:cNvGrpSpPr/>
          <p:nvPr/>
        </p:nvGrpSpPr>
        <p:grpSpPr>
          <a:xfrm>
            <a:off x="426293" y="1997268"/>
            <a:ext cx="2027606" cy="1166457"/>
            <a:chOff x="7854331" y="1651448"/>
            <a:chExt cx="2027606" cy="1166457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AB7E2BE3-191F-788D-A1D5-20246966ABE5}"/>
                </a:ext>
              </a:extLst>
            </p:cNvPr>
            <p:cNvSpPr/>
            <p:nvPr/>
          </p:nvSpPr>
          <p:spPr>
            <a:xfrm>
              <a:off x="8006211" y="2628588"/>
              <a:ext cx="1723847" cy="18931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9560B48A-11AA-E24E-803A-4F10FCA1BB02}"/>
                </a:ext>
              </a:extLst>
            </p:cNvPr>
            <p:cNvSpPr txBox="1"/>
            <p:nvPr/>
          </p:nvSpPr>
          <p:spPr>
            <a:xfrm>
              <a:off x="7854331" y="1651448"/>
              <a:ext cx="2027606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insert_vertex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delete_vertex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insert_edge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delete_edge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97ECC68D-EE8E-1C5C-0B7C-2324C8BF7170}"/>
              </a:ext>
            </a:extLst>
          </p:cNvPr>
          <p:cNvSpPr txBox="1"/>
          <p:nvPr/>
        </p:nvSpPr>
        <p:spPr>
          <a:xfrm>
            <a:off x="5399012" y="1372171"/>
            <a:ext cx="206410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read_file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has_vertex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has_edge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get_vertices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get_edges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vertex_count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edge_count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046370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0AC5BC49-AE64-6002-F036-6835CBEB47DA}"/>
              </a:ext>
            </a:extLst>
          </p:cNvPr>
          <p:cNvSpPr txBox="1"/>
          <p:nvPr/>
        </p:nvSpPr>
        <p:spPr>
          <a:xfrm>
            <a:off x="5176037" y="1206750"/>
            <a:ext cx="123825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/>
              <a:t>7 16</a:t>
            </a:r>
          </a:p>
          <a:p>
            <a:r>
              <a:rPr lang="zh-TW" altLang="en-US" sz="1400" dirty="0"/>
              <a:t>0 2</a:t>
            </a:r>
          </a:p>
          <a:p>
            <a:r>
              <a:rPr lang="zh-TW" altLang="en-US" sz="1400" dirty="0"/>
              <a:t>0 3</a:t>
            </a:r>
          </a:p>
          <a:p>
            <a:r>
              <a:rPr lang="zh-TW" altLang="en-US" sz="1400" dirty="0"/>
              <a:t>0 4</a:t>
            </a:r>
          </a:p>
          <a:p>
            <a:r>
              <a:rPr lang="zh-TW" altLang="en-US" sz="1400" dirty="0"/>
              <a:t>1 2</a:t>
            </a:r>
          </a:p>
          <a:p>
            <a:r>
              <a:rPr lang="zh-TW" altLang="en-US" sz="1400" dirty="0"/>
              <a:t>1 5</a:t>
            </a:r>
          </a:p>
          <a:p>
            <a:r>
              <a:rPr lang="zh-TW" altLang="en-US" sz="1400" dirty="0"/>
              <a:t>2 0</a:t>
            </a:r>
          </a:p>
          <a:p>
            <a:r>
              <a:rPr lang="zh-TW" altLang="en-US" sz="1400" dirty="0"/>
              <a:t>2 1</a:t>
            </a:r>
          </a:p>
          <a:p>
            <a:r>
              <a:rPr lang="zh-TW" altLang="en-US" sz="1400" dirty="0"/>
              <a:t>2 4</a:t>
            </a:r>
          </a:p>
          <a:p>
            <a:r>
              <a:rPr lang="zh-TW" altLang="en-US" sz="1400" dirty="0"/>
              <a:t>2 5</a:t>
            </a:r>
          </a:p>
          <a:p>
            <a:r>
              <a:rPr lang="zh-TW" altLang="en-US" sz="1400" dirty="0"/>
              <a:t>2 6</a:t>
            </a:r>
          </a:p>
          <a:p>
            <a:r>
              <a:rPr lang="zh-TW" altLang="en-US" sz="1400" dirty="0"/>
              <a:t>3 0</a:t>
            </a:r>
          </a:p>
          <a:p>
            <a:r>
              <a:rPr lang="zh-TW" altLang="en-US" sz="1400" dirty="0"/>
              <a:t>4 0</a:t>
            </a:r>
          </a:p>
          <a:p>
            <a:r>
              <a:rPr lang="zh-TW" altLang="en-US" sz="1400" dirty="0"/>
              <a:t>4 2</a:t>
            </a:r>
          </a:p>
          <a:p>
            <a:r>
              <a:rPr lang="zh-TW" altLang="en-US" sz="1400" dirty="0"/>
              <a:t>5 1</a:t>
            </a:r>
          </a:p>
          <a:p>
            <a:r>
              <a:rPr lang="zh-TW" altLang="en-US" sz="1400" dirty="0"/>
              <a:t>5 2</a:t>
            </a:r>
          </a:p>
          <a:p>
            <a:r>
              <a:rPr lang="zh-TW" altLang="en-US" sz="1400" dirty="0"/>
              <a:t>6 2</a:t>
            </a: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E17B4DDA-28EF-2538-0E32-91BBB9010026}"/>
              </a:ext>
            </a:extLst>
          </p:cNvPr>
          <p:cNvGrpSpPr/>
          <p:nvPr/>
        </p:nvGrpSpPr>
        <p:grpSpPr>
          <a:xfrm>
            <a:off x="904750" y="1206750"/>
            <a:ext cx="3839850" cy="2106300"/>
            <a:chOff x="1184150" y="3264150"/>
            <a:chExt cx="3839850" cy="2106300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EDE60DDD-561E-9750-1531-A2DA295A32BF}"/>
                </a:ext>
              </a:extLst>
            </p:cNvPr>
            <p:cNvSpPr/>
            <p:nvPr/>
          </p:nvSpPr>
          <p:spPr>
            <a:xfrm>
              <a:off x="1603250" y="341655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0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0AA630E2-E22F-2F31-F4E4-70D202B9445A}"/>
                </a:ext>
              </a:extLst>
            </p:cNvPr>
            <p:cNvSpPr/>
            <p:nvPr/>
          </p:nvSpPr>
          <p:spPr>
            <a:xfrm>
              <a:off x="1184150" y="423570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3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FA79071D-24D5-7097-5266-2066AFEB7E87}"/>
                </a:ext>
              </a:extLst>
            </p:cNvPr>
            <p:cNvSpPr/>
            <p:nvPr/>
          </p:nvSpPr>
          <p:spPr>
            <a:xfrm>
              <a:off x="2117600" y="423570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4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000D607-1838-19D1-FBA7-0C66F7F05410}"/>
                </a:ext>
              </a:extLst>
            </p:cNvPr>
            <p:cNvSpPr/>
            <p:nvPr/>
          </p:nvSpPr>
          <p:spPr>
            <a:xfrm>
              <a:off x="2974850" y="335940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2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B0EC8B03-B9B1-563E-6603-FE13735C0395}"/>
                </a:ext>
              </a:extLst>
            </p:cNvPr>
            <p:cNvSpPr/>
            <p:nvPr/>
          </p:nvSpPr>
          <p:spPr>
            <a:xfrm>
              <a:off x="4039750" y="3862612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1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F4E7238F-2D91-CC1B-105B-F1E5673AFF6C}"/>
                </a:ext>
              </a:extLst>
            </p:cNvPr>
            <p:cNvSpPr/>
            <p:nvPr/>
          </p:nvSpPr>
          <p:spPr>
            <a:xfrm>
              <a:off x="3565400" y="490245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6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1ED9D55B-B6CC-A2B4-079A-316E9152A7AC}"/>
                </a:ext>
              </a:extLst>
            </p:cNvPr>
            <p:cNvSpPr/>
            <p:nvPr/>
          </p:nvSpPr>
          <p:spPr>
            <a:xfrm>
              <a:off x="4556000" y="326415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5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1BC7D1FF-E972-D6D7-B0E3-274ACA7F76C6}"/>
                </a:ext>
              </a:extLst>
            </p:cNvPr>
            <p:cNvCxnSpPr>
              <a:cxnSpLocks/>
              <a:stCxn id="8" idx="0"/>
              <a:endCxn id="7" idx="3"/>
            </p:cNvCxnSpPr>
            <p:nvPr/>
          </p:nvCxnSpPr>
          <p:spPr>
            <a:xfrm flipV="1">
              <a:off x="1418150" y="3816013"/>
              <a:ext cx="253637" cy="4196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C7892ED1-FB79-DDD9-4F43-93E87AFFCAA1}"/>
                </a:ext>
              </a:extLst>
            </p:cNvPr>
            <p:cNvCxnSpPr>
              <a:cxnSpLocks/>
              <a:stCxn id="9" idx="0"/>
              <a:endCxn id="7" idx="5"/>
            </p:cNvCxnSpPr>
            <p:nvPr/>
          </p:nvCxnSpPr>
          <p:spPr>
            <a:xfrm flipH="1" flipV="1">
              <a:off x="2002713" y="3816013"/>
              <a:ext cx="348887" cy="4196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B74C44DE-9DB2-B0BA-F0AD-6BAFBCAF384B}"/>
                </a:ext>
              </a:extLst>
            </p:cNvPr>
            <p:cNvCxnSpPr>
              <a:cxnSpLocks/>
              <a:stCxn id="10" idx="2"/>
              <a:endCxn id="7" idx="6"/>
            </p:cNvCxnSpPr>
            <p:nvPr/>
          </p:nvCxnSpPr>
          <p:spPr>
            <a:xfrm flipH="1">
              <a:off x="2071250" y="3593400"/>
              <a:ext cx="903600" cy="571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接點 24">
              <a:extLst>
                <a:ext uri="{FF2B5EF4-FFF2-40B4-BE49-F238E27FC236}">
                  <a16:creationId xmlns:a16="http://schemas.microsoft.com/office/drawing/2014/main" id="{56850085-2290-1BC6-2EFB-4F229345ABEE}"/>
                </a:ext>
              </a:extLst>
            </p:cNvPr>
            <p:cNvCxnSpPr>
              <a:cxnSpLocks/>
              <a:stCxn id="10" idx="4"/>
              <a:endCxn id="9" idx="6"/>
            </p:cNvCxnSpPr>
            <p:nvPr/>
          </p:nvCxnSpPr>
          <p:spPr>
            <a:xfrm flipH="1">
              <a:off x="2585600" y="3827400"/>
              <a:ext cx="623250" cy="6423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C63FEDC4-97D1-FE05-1CEE-77B205E3DD90}"/>
                </a:ext>
              </a:extLst>
            </p:cNvPr>
            <p:cNvCxnSpPr>
              <a:cxnSpLocks/>
              <a:stCxn id="10" idx="5"/>
              <a:endCxn id="12" idx="0"/>
            </p:cNvCxnSpPr>
            <p:nvPr/>
          </p:nvCxnSpPr>
          <p:spPr>
            <a:xfrm>
              <a:off x="3374313" y="3758863"/>
              <a:ext cx="425087" cy="1143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61761D41-D5AE-1614-84FA-3081F32B1020}"/>
                </a:ext>
              </a:extLst>
            </p:cNvPr>
            <p:cNvCxnSpPr>
              <a:cxnSpLocks/>
              <a:stCxn id="10" idx="6"/>
              <a:endCxn id="11" idx="1"/>
            </p:cNvCxnSpPr>
            <p:nvPr/>
          </p:nvCxnSpPr>
          <p:spPr>
            <a:xfrm>
              <a:off x="3442850" y="3593400"/>
              <a:ext cx="665437" cy="33774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96533E6C-0480-FAFE-C066-A4384B397610}"/>
                </a:ext>
              </a:extLst>
            </p:cNvPr>
            <p:cNvCxnSpPr>
              <a:cxnSpLocks/>
              <a:stCxn id="13" idx="2"/>
              <a:endCxn id="11" idx="0"/>
            </p:cNvCxnSpPr>
            <p:nvPr/>
          </p:nvCxnSpPr>
          <p:spPr>
            <a:xfrm flipH="1">
              <a:off x="4273750" y="3498150"/>
              <a:ext cx="282250" cy="3644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9882B8A6-AC76-3E72-24B8-D67E4D3BB647}"/>
                </a:ext>
              </a:extLst>
            </p:cNvPr>
            <p:cNvCxnSpPr>
              <a:cxnSpLocks/>
              <a:stCxn id="10" idx="7"/>
              <a:endCxn id="13" idx="1"/>
            </p:cNvCxnSpPr>
            <p:nvPr/>
          </p:nvCxnSpPr>
          <p:spPr>
            <a:xfrm flipV="1">
              <a:off x="3374313" y="3332687"/>
              <a:ext cx="1250224" cy="952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18EBB40D-28B0-5D17-C5A7-16E8C15B36D2}"/>
              </a:ext>
            </a:extLst>
          </p:cNvPr>
          <p:cNvSpPr txBox="1"/>
          <p:nvPr/>
        </p:nvSpPr>
        <p:spPr>
          <a:xfrm>
            <a:off x="5179450" y="900918"/>
            <a:ext cx="20204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>
                <a:highlight>
                  <a:srgbClr val="FFFF00"/>
                </a:highlight>
              </a:rPr>
              <a:t>graph_</a:t>
            </a:r>
            <a:r>
              <a:rPr lang="en-US" altLang="zh-TW" sz="1400" dirty="0" err="1">
                <a:highlight>
                  <a:srgbClr val="FFFF00"/>
                </a:highlight>
              </a:rPr>
              <a:t>bfs</a:t>
            </a:r>
            <a:r>
              <a:rPr lang="en-US" altLang="zh-TW" sz="1400" dirty="0">
                <a:highlight>
                  <a:srgbClr val="FFFF00"/>
                </a:highlight>
              </a:rPr>
              <a:t>_</a:t>
            </a:r>
            <a:r>
              <a:rPr lang="zh-TW" altLang="en-US" sz="1400" dirty="0">
                <a:highlight>
                  <a:srgbClr val="FFFF00"/>
                </a:highlight>
              </a:rPr>
              <a:t>traverse.txt</a:t>
            </a:r>
          </a:p>
        </p:txBody>
      </p:sp>
    </p:spTree>
    <p:extLst>
      <p:ext uri="{BB962C8B-B14F-4D97-AF65-F5344CB8AC3E}">
        <p14:creationId xmlns:p14="http://schemas.microsoft.com/office/powerpoint/2010/main" val="2248505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A9D47-2C8F-8768-4BFF-5FB6B29E8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C50F8B99-3509-A226-41EA-5397B038DB7D}"/>
              </a:ext>
            </a:extLst>
          </p:cNvPr>
          <p:cNvSpPr txBox="1"/>
          <p:nvPr/>
        </p:nvSpPr>
        <p:spPr>
          <a:xfrm>
            <a:off x="5176037" y="1206750"/>
            <a:ext cx="123825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7 16</a:t>
            </a:r>
          </a:p>
          <a:p>
            <a:r>
              <a:rPr lang="en-US" altLang="zh-TW" sz="1400" dirty="0"/>
              <a:t>0 4</a:t>
            </a:r>
          </a:p>
          <a:p>
            <a:r>
              <a:rPr lang="en-US" altLang="zh-TW" sz="1400" dirty="0"/>
              <a:t>0 3</a:t>
            </a:r>
          </a:p>
          <a:p>
            <a:r>
              <a:rPr lang="en-US" altLang="zh-TW" sz="1400" dirty="0"/>
              <a:t>0 2</a:t>
            </a:r>
          </a:p>
          <a:p>
            <a:r>
              <a:rPr lang="en-US" altLang="zh-TW" sz="1400" dirty="0"/>
              <a:t>1 2</a:t>
            </a:r>
          </a:p>
          <a:p>
            <a:r>
              <a:rPr lang="en-US" altLang="zh-TW" sz="1400" dirty="0"/>
              <a:t>1 5</a:t>
            </a:r>
          </a:p>
          <a:p>
            <a:r>
              <a:rPr lang="en-US" altLang="zh-TW" sz="1400" dirty="0"/>
              <a:t>2 0</a:t>
            </a:r>
          </a:p>
          <a:p>
            <a:r>
              <a:rPr lang="en-US" altLang="zh-TW" sz="1400" dirty="0"/>
              <a:t>2 6</a:t>
            </a:r>
          </a:p>
          <a:p>
            <a:r>
              <a:rPr lang="en-US" altLang="zh-TW" sz="1400" dirty="0"/>
              <a:t>2 5</a:t>
            </a:r>
          </a:p>
          <a:p>
            <a:r>
              <a:rPr lang="en-US" altLang="zh-TW" sz="1400" dirty="0"/>
              <a:t>2 4</a:t>
            </a:r>
          </a:p>
          <a:p>
            <a:r>
              <a:rPr lang="en-US" altLang="zh-TW" sz="1400" dirty="0"/>
              <a:t>2 1</a:t>
            </a:r>
          </a:p>
          <a:p>
            <a:r>
              <a:rPr lang="en-US" altLang="zh-TW" sz="1400" dirty="0"/>
              <a:t>3 0</a:t>
            </a:r>
          </a:p>
          <a:p>
            <a:r>
              <a:rPr lang="en-US" altLang="zh-TW" sz="1400" dirty="0"/>
              <a:t>4 0</a:t>
            </a:r>
          </a:p>
          <a:p>
            <a:r>
              <a:rPr lang="en-US" altLang="zh-TW" sz="1400" dirty="0"/>
              <a:t>4 2</a:t>
            </a:r>
          </a:p>
          <a:p>
            <a:r>
              <a:rPr lang="en-US" altLang="zh-TW" sz="1400" dirty="0"/>
              <a:t>5 1</a:t>
            </a:r>
          </a:p>
          <a:p>
            <a:r>
              <a:rPr lang="en-US" altLang="zh-TW" sz="1400" dirty="0"/>
              <a:t>5 2</a:t>
            </a:r>
          </a:p>
          <a:p>
            <a:r>
              <a:rPr lang="en-US" altLang="zh-TW" sz="1400" dirty="0"/>
              <a:t>6 2</a:t>
            </a:r>
            <a:endParaRPr lang="zh-TW" altLang="en-US" sz="1400" dirty="0"/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B95ECAD-A4BA-C2D0-A572-9E698C6BCAD9}"/>
              </a:ext>
            </a:extLst>
          </p:cNvPr>
          <p:cNvGrpSpPr/>
          <p:nvPr/>
        </p:nvGrpSpPr>
        <p:grpSpPr>
          <a:xfrm>
            <a:off x="904750" y="1206750"/>
            <a:ext cx="3839850" cy="2106300"/>
            <a:chOff x="1184150" y="3264150"/>
            <a:chExt cx="3839850" cy="2106300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52590DAC-CF9E-5E17-9C80-64BA5A095A74}"/>
                </a:ext>
              </a:extLst>
            </p:cNvPr>
            <p:cNvSpPr/>
            <p:nvPr/>
          </p:nvSpPr>
          <p:spPr>
            <a:xfrm>
              <a:off x="1603250" y="341655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0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C07C710E-9A29-392F-4B59-64B53F5829B5}"/>
                </a:ext>
              </a:extLst>
            </p:cNvPr>
            <p:cNvSpPr/>
            <p:nvPr/>
          </p:nvSpPr>
          <p:spPr>
            <a:xfrm>
              <a:off x="1184150" y="423570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3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54ABC2CB-5981-0F11-065E-0B7DB11F0070}"/>
                </a:ext>
              </a:extLst>
            </p:cNvPr>
            <p:cNvSpPr/>
            <p:nvPr/>
          </p:nvSpPr>
          <p:spPr>
            <a:xfrm>
              <a:off x="2117600" y="423570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4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89D31D92-1D28-00C7-A5E6-8B75426644B8}"/>
                </a:ext>
              </a:extLst>
            </p:cNvPr>
            <p:cNvSpPr/>
            <p:nvPr/>
          </p:nvSpPr>
          <p:spPr>
            <a:xfrm>
              <a:off x="2974850" y="335940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2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439280C4-841F-22AD-6335-6B690FD75BCB}"/>
                </a:ext>
              </a:extLst>
            </p:cNvPr>
            <p:cNvSpPr/>
            <p:nvPr/>
          </p:nvSpPr>
          <p:spPr>
            <a:xfrm>
              <a:off x="4039750" y="3862612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1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7AE21E7-32BA-833F-CECB-D1B5210F2EF7}"/>
                </a:ext>
              </a:extLst>
            </p:cNvPr>
            <p:cNvSpPr/>
            <p:nvPr/>
          </p:nvSpPr>
          <p:spPr>
            <a:xfrm>
              <a:off x="3565400" y="490245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6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5B43CACA-81BC-B332-D2CC-24D63B3ED4CE}"/>
                </a:ext>
              </a:extLst>
            </p:cNvPr>
            <p:cNvSpPr/>
            <p:nvPr/>
          </p:nvSpPr>
          <p:spPr>
            <a:xfrm>
              <a:off x="4556000" y="3264150"/>
              <a:ext cx="468000" cy="468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5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AC3D804A-A620-4896-79C4-BCCEBDC169D9}"/>
                </a:ext>
              </a:extLst>
            </p:cNvPr>
            <p:cNvCxnSpPr>
              <a:cxnSpLocks/>
              <a:stCxn id="8" idx="0"/>
              <a:endCxn id="7" idx="3"/>
            </p:cNvCxnSpPr>
            <p:nvPr/>
          </p:nvCxnSpPr>
          <p:spPr>
            <a:xfrm flipV="1">
              <a:off x="1418150" y="3816013"/>
              <a:ext cx="253637" cy="4196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2E1D717B-F47E-7FB8-E2F8-17FBD7382029}"/>
                </a:ext>
              </a:extLst>
            </p:cNvPr>
            <p:cNvCxnSpPr>
              <a:cxnSpLocks/>
              <a:stCxn id="9" idx="0"/>
              <a:endCxn id="7" idx="5"/>
            </p:cNvCxnSpPr>
            <p:nvPr/>
          </p:nvCxnSpPr>
          <p:spPr>
            <a:xfrm flipH="1" flipV="1">
              <a:off x="2002713" y="3816013"/>
              <a:ext cx="348887" cy="4196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F75C3BF1-23EA-D672-E5EC-9A191502973F}"/>
                </a:ext>
              </a:extLst>
            </p:cNvPr>
            <p:cNvCxnSpPr>
              <a:cxnSpLocks/>
              <a:stCxn id="10" idx="2"/>
              <a:endCxn id="7" idx="6"/>
            </p:cNvCxnSpPr>
            <p:nvPr/>
          </p:nvCxnSpPr>
          <p:spPr>
            <a:xfrm flipH="1">
              <a:off x="2071250" y="3593400"/>
              <a:ext cx="903600" cy="571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接點 24">
              <a:extLst>
                <a:ext uri="{FF2B5EF4-FFF2-40B4-BE49-F238E27FC236}">
                  <a16:creationId xmlns:a16="http://schemas.microsoft.com/office/drawing/2014/main" id="{FA022528-D4A7-8251-2103-606302C3E665}"/>
                </a:ext>
              </a:extLst>
            </p:cNvPr>
            <p:cNvCxnSpPr>
              <a:cxnSpLocks/>
              <a:stCxn id="10" idx="4"/>
              <a:endCxn id="9" idx="6"/>
            </p:cNvCxnSpPr>
            <p:nvPr/>
          </p:nvCxnSpPr>
          <p:spPr>
            <a:xfrm flipH="1">
              <a:off x="2585600" y="3827400"/>
              <a:ext cx="623250" cy="6423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1FDB41ED-952D-3491-FDC4-D7999395CD9F}"/>
                </a:ext>
              </a:extLst>
            </p:cNvPr>
            <p:cNvCxnSpPr>
              <a:cxnSpLocks/>
              <a:stCxn id="10" idx="5"/>
              <a:endCxn id="12" idx="0"/>
            </p:cNvCxnSpPr>
            <p:nvPr/>
          </p:nvCxnSpPr>
          <p:spPr>
            <a:xfrm>
              <a:off x="3374313" y="3758863"/>
              <a:ext cx="425087" cy="1143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BC4F4EA9-5C5B-63CE-60C8-2D2187DB5532}"/>
                </a:ext>
              </a:extLst>
            </p:cNvPr>
            <p:cNvCxnSpPr>
              <a:cxnSpLocks/>
              <a:stCxn id="10" idx="6"/>
              <a:endCxn id="11" idx="1"/>
            </p:cNvCxnSpPr>
            <p:nvPr/>
          </p:nvCxnSpPr>
          <p:spPr>
            <a:xfrm>
              <a:off x="3442850" y="3593400"/>
              <a:ext cx="665437" cy="33774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7CD7721C-2D5E-6953-9058-9FCC0B5C39AA}"/>
                </a:ext>
              </a:extLst>
            </p:cNvPr>
            <p:cNvCxnSpPr>
              <a:cxnSpLocks/>
              <a:stCxn id="13" idx="2"/>
              <a:endCxn id="11" idx="0"/>
            </p:cNvCxnSpPr>
            <p:nvPr/>
          </p:nvCxnSpPr>
          <p:spPr>
            <a:xfrm flipH="1">
              <a:off x="4273750" y="3498150"/>
              <a:ext cx="282250" cy="3644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AE37FA2-82D6-DBD5-2C64-28FA56973E68}"/>
                </a:ext>
              </a:extLst>
            </p:cNvPr>
            <p:cNvCxnSpPr>
              <a:cxnSpLocks/>
              <a:stCxn id="10" idx="7"/>
              <a:endCxn id="13" idx="1"/>
            </p:cNvCxnSpPr>
            <p:nvPr/>
          </p:nvCxnSpPr>
          <p:spPr>
            <a:xfrm flipV="1">
              <a:off x="3374313" y="3332687"/>
              <a:ext cx="1250224" cy="952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F9AFC592-8319-8CDC-6B06-429418EF621A}"/>
              </a:ext>
            </a:extLst>
          </p:cNvPr>
          <p:cNvSpPr txBox="1"/>
          <p:nvPr/>
        </p:nvSpPr>
        <p:spPr>
          <a:xfrm>
            <a:off x="5179450" y="900918"/>
            <a:ext cx="20204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>
                <a:highlight>
                  <a:srgbClr val="FFFF00"/>
                </a:highlight>
              </a:rPr>
              <a:t>graph_</a:t>
            </a:r>
            <a:r>
              <a:rPr lang="en-US" altLang="zh-TW" sz="1400" dirty="0">
                <a:highlight>
                  <a:srgbClr val="FFFF00"/>
                </a:highlight>
              </a:rPr>
              <a:t>dfs_</a:t>
            </a:r>
            <a:r>
              <a:rPr lang="zh-TW" altLang="en-US" sz="1400" dirty="0">
                <a:highlight>
                  <a:srgbClr val="FFFF00"/>
                </a:highlight>
              </a:rPr>
              <a:t>traverse.txt</a:t>
            </a:r>
          </a:p>
        </p:txBody>
      </p:sp>
    </p:spTree>
    <p:extLst>
      <p:ext uri="{BB962C8B-B14F-4D97-AF65-F5344CB8AC3E}">
        <p14:creationId xmlns:p14="http://schemas.microsoft.com/office/powerpoint/2010/main" val="2057927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DDA74-FF0F-A40A-D95D-18524F231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B94D4F55-D625-D49B-388B-3909A5D703C6}"/>
              </a:ext>
            </a:extLst>
          </p:cNvPr>
          <p:cNvSpPr txBox="1"/>
          <p:nvPr/>
        </p:nvSpPr>
        <p:spPr>
          <a:xfrm>
            <a:off x="5379237" y="1208695"/>
            <a:ext cx="123825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9 28</a:t>
            </a:r>
          </a:p>
          <a:p>
            <a:r>
              <a:rPr lang="en-US" altLang="zh-TW" sz="1200" dirty="0"/>
              <a:t>0 1 4</a:t>
            </a:r>
          </a:p>
          <a:p>
            <a:r>
              <a:rPr lang="en-US" altLang="zh-TW" sz="1200" dirty="0"/>
              <a:t>0 7 8</a:t>
            </a:r>
          </a:p>
          <a:p>
            <a:r>
              <a:rPr lang="en-US" altLang="zh-TW" sz="1200" dirty="0"/>
              <a:t>1 0 4</a:t>
            </a:r>
          </a:p>
          <a:p>
            <a:r>
              <a:rPr lang="en-US" altLang="zh-TW" sz="1200" dirty="0"/>
              <a:t>1 7 11</a:t>
            </a:r>
          </a:p>
          <a:p>
            <a:r>
              <a:rPr lang="en-US" altLang="zh-TW" sz="1200" dirty="0"/>
              <a:t>1 2 8</a:t>
            </a:r>
          </a:p>
          <a:p>
            <a:r>
              <a:rPr lang="en-US" altLang="zh-TW" sz="1200" dirty="0"/>
              <a:t>2 1 8</a:t>
            </a:r>
          </a:p>
          <a:p>
            <a:r>
              <a:rPr lang="en-US" altLang="zh-TW" sz="1200" dirty="0"/>
              <a:t>2 8 2</a:t>
            </a:r>
          </a:p>
          <a:p>
            <a:r>
              <a:rPr lang="en-US" altLang="zh-TW" sz="1200" dirty="0"/>
              <a:t>2 5 4</a:t>
            </a:r>
          </a:p>
          <a:p>
            <a:r>
              <a:rPr lang="en-US" altLang="zh-TW" sz="1200" dirty="0"/>
              <a:t>2 3 7</a:t>
            </a:r>
          </a:p>
          <a:p>
            <a:r>
              <a:rPr lang="en-US" altLang="zh-TW" sz="1200" dirty="0"/>
              <a:t>3 2 7</a:t>
            </a:r>
          </a:p>
          <a:p>
            <a:r>
              <a:rPr lang="en-US" altLang="zh-TW" sz="1200" dirty="0"/>
              <a:t>3 5 14</a:t>
            </a:r>
          </a:p>
          <a:p>
            <a:r>
              <a:rPr lang="en-US" altLang="zh-TW" sz="1200" dirty="0"/>
              <a:t>3 4 9</a:t>
            </a:r>
          </a:p>
          <a:p>
            <a:r>
              <a:rPr lang="en-US" altLang="zh-TW" sz="1200" dirty="0"/>
              <a:t>4 3 9</a:t>
            </a:r>
          </a:p>
          <a:p>
            <a:r>
              <a:rPr lang="en-US" altLang="zh-TW" sz="1200" dirty="0"/>
              <a:t>4 5 10</a:t>
            </a:r>
          </a:p>
          <a:p>
            <a:r>
              <a:rPr lang="en-US" altLang="zh-TW" sz="1200" dirty="0"/>
              <a:t>5 6 2</a:t>
            </a:r>
          </a:p>
          <a:p>
            <a:r>
              <a:rPr lang="en-US" altLang="zh-TW" sz="1200" dirty="0"/>
              <a:t>5 2 4</a:t>
            </a:r>
          </a:p>
          <a:p>
            <a:r>
              <a:rPr lang="en-US" altLang="zh-TW" sz="1200" dirty="0"/>
              <a:t>5 3 14</a:t>
            </a:r>
          </a:p>
          <a:p>
            <a:r>
              <a:rPr lang="en-US" altLang="zh-TW" sz="1200" dirty="0"/>
              <a:t>5 4 10</a:t>
            </a:r>
          </a:p>
          <a:p>
            <a:r>
              <a:rPr lang="en-US" altLang="zh-TW" sz="1200" dirty="0"/>
              <a:t>6 7 1</a:t>
            </a:r>
          </a:p>
          <a:p>
            <a:r>
              <a:rPr lang="en-US" altLang="zh-TW" sz="1200" dirty="0"/>
              <a:t>6 8 6</a:t>
            </a:r>
          </a:p>
          <a:p>
            <a:r>
              <a:rPr lang="en-US" altLang="zh-TW" sz="1200" dirty="0"/>
              <a:t>6 5 2</a:t>
            </a:r>
          </a:p>
          <a:p>
            <a:r>
              <a:rPr lang="en-US" altLang="zh-TW" sz="1200" dirty="0"/>
              <a:t>7 0 8</a:t>
            </a:r>
          </a:p>
          <a:p>
            <a:r>
              <a:rPr lang="en-US" altLang="zh-TW" sz="1200" dirty="0"/>
              <a:t>7 1 11</a:t>
            </a:r>
          </a:p>
          <a:p>
            <a:r>
              <a:rPr lang="en-US" altLang="zh-TW" sz="1200" dirty="0"/>
              <a:t>7 8 7</a:t>
            </a:r>
          </a:p>
          <a:p>
            <a:r>
              <a:rPr lang="en-US" altLang="zh-TW" sz="1200" dirty="0"/>
              <a:t>7 6 1</a:t>
            </a:r>
          </a:p>
          <a:p>
            <a:r>
              <a:rPr lang="en-US" altLang="zh-TW" sz="1200" dirty="0"/>
              <a:t>8 7 7</a:t>
            </a:r>
          </a:p>
          <a:p>
            <a:r>
              <a:rPr lang="en-US" altLang="zh-TW" sz="1200" dirty="0"/>
              <a:t>8 2 2</a:t>
            </a:r>
          </a:p>
          <a:p>
            <a:r>
              <a:rPr lang="en-US" altLang="zh-TW" sz="1200" dirty="0"/>
              <a:t>8 6 6</a:t>
            </a:r>
            <a:endParaRPr lang="zh-TW" altLang="en-US" sz="12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C312BE6-4763-A813-3214-7DB92EF96C43}"/>
              </a:ext>
            </a:extLst>
          </p:cNvPr>
          <p:cNvSpPr txBox="1"/>
          <p:nvPr/>
        </p:nvSpPr>
        <p:spPr>
          <a:xfrm>
            <a:off x="5179450" y="900918"/>
            <a:ext cx="20204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highlight>
                  <a:srgbClr val="FFFF00"/>
                </a:highlight>
              </a:rPr>
              <a:t>graph_mcst_kruskal.txt</a:t>
            </a:r>
            <a:endParaRPr lang="zh-TW" altLang="en-US" sz="1400" dirty="0">
              <a:highlight>
                <a:srgbClr val="FFFF00"/>
              </a:highlight>
            </a:endParaRPr>
          </a:p>
        </p:txBody>
      </p:sp>
      <p:pic>
        <p:nvPicPr>
          <p:cNvPr id="3" name="圖片 2" descr="一張含有 圖表, 行, 圓形, 螢幕擷取畫面 的圖片&#10;&#10;自動產生的描述">
            <a:extLst>
              <a:ext uri="{FF2B5EF4-FFF2-40B4-BE49-F238E27FC236}">
                <a16:creationId xmlns:a16="http://schemas.microsoft.com/office/drawing/2014/main" id="{AB1C8BAD-81F2-7273-5D81-E551B4D9E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74" y="1054806"/>
            <a:ext cx="476250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268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1616</TotalTime>
  <Words>288</Words>
  <Application>Microsoft Macintosh PowerPoint</Application>
  <PresentationFormat>寬螢幕</PresentationFormat>
  <Paragraphs>114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24</cp:revision>
  <dcterms:created xsi:type="dcterms:W3CDTF">2026-01-03T12:20:26Z</dcterms:created>
  <dcterms:modified xsi:type="dcterms:W3CDTF">2026-02-05T14:49:57Z</dcterms:modified>
</cp:coreProperties>
</file>